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B2D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F1B2D"/>
                </a:solidFill>
                <a:latin typeface="+mn-lt"/>
              </a:rPr>
              <a:t>ROC-AUC vs F1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E8590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B2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Baseline</c:v>
                  </c:pt>
                  <c:pt idx="1">
                    <c:v>Logistic Reg.</c:v>
                  </c:pt>
                  <c:pt idx="2">
                    <c:v>Random Forest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</c:v>
                </c:pt>
                <c:pt idx="1">
                  <c:v>0.961</c:v>
                </c:pt>
                <c:pt idx="2">
                  <c:v>0.822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2B8A9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B2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Baseline</c:v>
                  </c:pt>
                  <c:pt idx="1">
                    <c:v>Logistic Reg.</c:v>
                  </c:pt>
                  <c:pt idx="2">
                    <c:v>Random Forest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0.71</c:v>
                </c:pt>
                <c:pt idx="1">
                  <c:v>0.086</c:v>
                </c:pt>
                <c:pt idx="2">
                  <c:v>0.541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0F1B2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7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C677D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[Uzair] Greet the evaluator. One sentence: we built a classifier that uses earthquake-catalog features to tell whether Kilauea was erupting when each quake happened. Introduce both of us and say who covers which part: Uzair - data, labels, features, split. Mokshith - models, results, limitations, conclusion.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[Uzair] Read the question aloud. Stress the word 'contemporaneous': we classify the state at the time of the quake. We do NOT forecast future eruptions. Say this early so the evaluator does not expect a forecasting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[Uzair] Walk through the four numbers: 6,485 earthquake records from 1983 to 1986, 49 documented eruption intervals. A quake is labelled 1 if its timestamp falls inside an eruption interval, otherwise 0. 68.9% of the engineered dataset is positive, so the classes are imbalanced - this is why we do not trust accuracy alone later. Be ready to say where the eruption interval dates came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[Uzair] This is the roadmap for the whole talk. Say the six steps left to right in one breath. Uzair covers the first four boxes; hand over to Mokshith at 'Models'. Tell the evaluator each box maps to a file/notebook in the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[Uzair] Two feature families. Event features describe this one quake: location, depth, magnitude, distance from the vent. History features summarise recent seismicity: count and maximum magnitude over the previous 1, 7 and 30 days. Key point to emphasise: the current quake is EXCLUDED from its own rolling window, otherwise the model would partly see itself - that would be leakage. Expect a question on why 1/7/30 days; honest answer: short, medium and long memory windows.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[Uzair] Data is sorted by time: first 70% trains, next 15% is the development set where we choose thresholds, last 15% is the untouched held-out test. Why not random? Earthquakes close in time look alike, so a random split would leak neighbours into the test set and inflate scores. Note the consequence: the test period has a 55% positive rate (the majority baseline accuracy is 0.550), different from the 68.9% overall - this matters when we explain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[Mokshith] Take over here. Three models. Majority baseline: always predict the most common class - the bar any real model must beat. Logistic Regression: linear and interpretable. Random Forest: handles non-linear interactions; we tuned its decision threshold to 0.75 on the development set, NOT on the test set. Be ready to explain what a decision threshold is: the probability above which we call a quake 'erupting'.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[Mokshith] Point at the table. Majority baseline: accuracy 0.550, F1 0.710, kappa 0, AUC 0.5. Logistic Regression: accuracy 0.475, F1 0.086, kappa 0.041, but ROC-AUC 0.961 - the best ranking. Random Forest: accuracy 0.636, F1 0.541, kappa 0.308, AUC 0.822 - the most balanced after threshold tuning. Do not claim a single winner: say it depends on the metric, and explain on the next slide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[Mokshith] The question evaluators ask most: 'Logistic Regression has the best AUC but the worst accuracy - why?' Answer: ROC-AUC measures how well the model RANKS eruptive quakes above repose quakes, independent of any threshold. Accuracy and F1 depend on one chosen threshold. A model can rank well yet, at its default cutoff, label most quakes as repose, giving low F1. Also remind them the test period is 55% positive vs 68.9% overall, so thresholds fitted earlier do not transfer perfectly. TODO before presenting: confirm in the notebook which threshold Logistic Regression used. Random Forest, tuned on the development set, is more balanced on the held-out period.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[Mokshith] Be upfront - evaluators reward honesty. 1) Retrospective: we classify current status, not future eruptions. 2) Only 49 intervals: quakes inside one interval are highly correlated, so effective sample size is smaller than 6,485. 3) Threshold sensitivity: results change with the cutoff. 4) One volcano and a four-year window: results may not generalise.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[Mokshith] Conclusion in one sentence: the catalog holds useful information about whether the volcano is erupting right now, but this experiment does not forecast eruptions. [Uzair] Next steps: calibrate thresholds on a development period, use blocked/event-based validation, add waveform, tremor, GPS and gas features. Point to the repo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Kilauea earthquake catalog study  |  UE24CS352A ML Mini-Project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untain"/>
          <p:cNvSpPr/>
          <p:nvPr/>
        </p:nvSpPr>
        <p:spPr>
          <a:xfrm>
            <a:off x="5669280" y="1463040"/>
            <a:ext cx="3291840" cy="3108960"/>
          </a:xfrm>
          <a:prstGeom prst="triangl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" name="mountain 2"/>
          <p:cNvSpPr/>
          <p:nvPr/>
        </p:nvSpPr>
        <p:spPr>
          <a:xfrm>
            <a:off x="6858000" y="2103120"/>
            <a:ext cx="2194560" cy="2468880"/>
          </a:xfrm>
          <a:prstGeom prst="triangl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ember 1"/>
          <p:cNvSpPr/>
          <p:nvPr/>
        </p:nvSpPr>
        <p:spPr>
          <a:xfrm>
            <a:off x="6903720" y="10972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ember 2"/>
          <p:cNvSpPr/>
          <p:nvPr/>
        </p:nvSpPr>
        <p:spPr>
          <a:xfrm>
            <a:off x="7406640" y="731520"/>
            <a:ext cx="256032" cy="25603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ember 3"/>
          <p:cNvSpPr/>
          <p:nvPr/>
        </p:nvSpPr>
        <p:spPr>
          <a:xfrm>
            <a:off x="6492240" y="640080"/>
            <a:ext cx="164592" cy="16459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MACHINE LEARNING MINI-PROJECT  |  UE24CS352A  |  SECTION 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18872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Predicting Eruptive Events from Earthquake Data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926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Kilauea Pu'u 'O'o eruption-status classification</a:t>
            </a:r>
            <a:endParaRPr lang="en-US" sz="1600" dirty="0"/>
          </a:p>
        </p:txBody>
      </p:sp>
      <p:sp>
        <p:nvSpPr>
          <p:cNvPr id="10" name="divider"/>
          <p:cNvSpPr/>
          <p:nvPr/>
        </p:nvSpPr>
        <p:spPr>
          <a:xfrm>
            <a:off x="640080" y="3474720"/>
            <a:ext cx="1097280" cy="457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6576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Muhammad Uzair   |   Mokshithreddy Nallaballe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research question</a:t>
            </a:r>
            <a:endParaRPr lang="en-US" sz="2600" dirty="0"/>
          </a:p>
        </p:txBody>
      </p:sp>
      <p:sp>
        <p:nvSpPr>
          <p:cNvPr id="4" name="card"/>
          <p:cNvSpPr/>
          <p:nvPr/>
        </p:nvSpPr>
        <p:spPr>
          <a:xfrm>
            <a:off x="457200" y="1234440"/>
            <a:ext cx="822960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card accent"/>
          <p:cNvSpPr/>
          <p:nvPr/>
        </p:nvSpPr>
        <p:spPr>
          <a:xfrm>
            <a:off x="457200" y="1344168"/>
            <a:ext cx="64008" cy="96926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371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 earthquake-catalog features identify whether Kilauea was erupting when an earthquake occurred?</a:t>
            </a:r>
            <a:endParaRPr lang="en-US" sz="2200" dirty="0"/>
          </a:p>
        </p:txBody>
      </p:sp>
      <p:sp>
        <p:nvSpPr>
          <p:cNvPr id="7" name="card"/>
          <p:cNvSpPr/>
          <p:nvPr/>
        </p:nvSpPr>
        <p:spPr>
          <a:xfrm>
            <a:off x="457200" y="2743200"/>
            <a:ext cx="2560320" cy="173736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card accent"/>
          <p:cNvSpPr/>
          <p:nvPr/>
        </p:nvSpPr>
        <p:spPr>
          <a:xfrm>
            <a:off x="457200" y="2852928"/>
            <a:ext cx="64008" cy="151790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926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TARGET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2918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Contemporaneous eruption status: erupting (1) or repose (0)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3291840" y="2743200"/>
            <a:ext cx="2560320" cy="173736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card accent"/>
          <p:cNvSpPr/>
          <p:nvPr/>
        </p:nvSpPr>
        <p:spPr>
          <a:xfrm>
            <a:off x="3291840" y="2852928"/>
            <a:ext cx="64008" cy="151790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66160" y="2926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SCOPE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566160" y="32918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Retrospective, educational model built on a historical catalog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6126480" y="2743200"/>
            <a:ext cx="2560320" cy="173736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card accent"/>
          <p:cNvSpPr/>
          <p:nvPr/>
        </p:nvSpPr>
        <p:spPr>
          <a:xfrm>
            <a:off x="6126480" y="2852928"/>
            <a:ext cx="64008" cy="1517904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0" y="2926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INTERPRETATION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0" y="32918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Signal detection, not an operational early-warning system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and labels</a:t>
            </a:r>
            <a:endParaRPr lang="en-US" sz="2600" dirty="0"/>
          </a:p>
        </p:txBody>
      </p:sp>
      <p:sp>
        <p:nvSpPr>
          <p:cNvPr id="4" name="card"/>
          <p:cNvSpPr/>
          <p:nvPr/>
        </p:nvSpPr>
        <p:spPr>
          <a:xfrm>
            <a:off x="457200" y="1234440"/>
            <a:ext cx="192024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tat bar"/>
          <p:cNvSpPr/>
          <p:nvPr/>
        </p:nvSpPr>
        <p:spPr>
          <a:xfrm>
            <a:off x="457200" y="1234440"/>
            <a:ext cx="192024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4630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6,485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103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earthquake records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2542032" y="1234440"/>
            <a:ext cx="192024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tat bar"/>
          <p:cNvSpPr/>
          <p:nvPr/>
        </p:nvSpPr>
        <p:spPr>
          <a:xfrm>
            <a:off x="2542032" y="1234440"/>
            <a:ext cx="1920240" cy="6400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542032" y="14630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1983-1986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2633472" y="2103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catalog period</a:t>
            </a:r>
            <a:endParaRPr lang="en-US" sz="1200" dirty="0"/>
          </a:p>
        </p:txBody>
      </p:sp>
      <p:sp>
        <p:nvSpPr>
          <p:cNvPr id="12" name="card"/>
          <p:cNvSpPr/>
          <p:nvPr/>
        </p:nvSpPr>
        <p:spPr>
          <a:xfrm>
            <a:off x="4626864" y="1234440"/>
            <a:ext cx="192024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tat bar"/>
          <p:cNvSpPr/>
          <p:nvPr/>
        </p:nvSpPr>
        <p:spPr>
          <a:xfrm>
            <a:off x="4626864" y="1234440"/>
            <a:ext cx="1920240" cy="6400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626864" y="14630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49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4718304" y="2103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eruption intervals</a:t>
            </a:r>
            <a:endParaRPr lang="en-US" sz="1200" dirty="0"/>
          </a:p>
        </p:txBody>
      </p:sp>
      <p:sp>
        <p:nvSpPr>
          <p:cNvPr id="16" name="card"/>
          <p:cNvSpPr/>
          <p:nvPr/>
        </p:nvSpPr>
        <p:spPr>
          <a:xfrm>
            <a:off x="6711696" y="1234440"/>
            <a:ext cx="192024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tat bar"/>
          <p:cNvSpPr/>
          <p:nvPr/>
        </p:nvSpPr>
        <p:spPr>
          <a:xfrm>
            <a:off x="6711696" y="1234440"/>
            <a:ext cx="1920240" cy="6400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711696" y="14630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68.9%</a:t>
            </a:r>
            <a:endParaRPr lang="en-US" sz="3200" dirty="0"/>
          </a:p>
        </p:txBody>
      </p:sp>
      <p:sp>
        <p:nvSpPr>
          <p:cNvPr id="19" name="Text 16"/>
          <p:cNvSpPr txBox="1"/>
          <p:nvPr/>
        </p:nvSpPr>
        <p:spPr>
          <a:xfrm>
            <a:off x="6803136" y="2103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positive rate (engineered data)</a:t>
            </a:r>
            <a:endParaRPr lang="en-US" sz="1200" dirty="0"/>
          </a:p>
        </p:txBody>
      </p:sp>
      <p:sp>
        <p:nvSpPr>
          <p:cNvPr id="20" name="card"/>
          <p:cNvSpPr/>
          <p:nvPr/>
        </p:nvSpPr>
        <p:spPr>
          <a:xfrm>
            <a:off x="457200" y="301752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card accent"/>
          <p:cNvSpPr/>
          <p:nvPr/>
        </p:nvSpPr>
        <p:spPr>
          <a:xfrm>
            <a:off x="457200" y="3127248"/>
            <a:ext cx="64008" cy="124358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3154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LABEL 1  -  ERUPTING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731520" y="35204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earthquake falls inside a documented eruption interval.</a:t>
            </a:r>
            <a:endParaRPr lang="en-US" sz="1500" dirty="0"/>
          </a:p>
        </p:txBody>
      </p:sp>
      <p:sp>
        <p:nvSpPr>
          <p:cNvPr id="24" name="card"/>
          <p:cNvSpPr/>
          <p:nvPr/>
        </p:nvSpPr>
        <p:spPr>
          <a:xfrm>
            <a:off x="4663440" y="301752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card accent"/>
          <p:cNvSpPr/>
          <p:nvPr/>
        </p:nvSpPr>
        <p:spPr>
          <a:xfrm>
            <a:off x="4663440" y="3127248"/>
            <a:ext cx="64008" cy="124358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937760" y="3154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LABEL 0  -  REPOSE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4937760" y="35204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earthquake occurs between eruptions, during repose.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pipeline at a glance</a:t>
            </a:r>
            <a:endParaRPr lang="en-US" sz="2600" dirty="0"/>
          </a:p>
        </p:txBody>
      </p:sp>
      <p:sp>
        <p:nvSpPr>
          <p:cNvPr id="4" name="step box"/>
          <p:cNvSpPr/>
          <p:nvPr/>
        </p:nvSpPr>
        <p:spPr>
          <a:xfrm>
            <a:off x="457200" y="1554480"/>
            <a:ext cx="1188720" cy="1188720"/>
          </a:xfrm>
          <a:prstGeom prst="roundRect">
            <a:avLst>
              <a:gd name="adj" fmla="val 769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457200" y="162763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103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Catalog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28803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6,485 quakes, 1983-86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19202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&gt;</a:t>
            </a:r>
            <a:endParaRPr lang="en-US" sz="1600" dirty="0"/>
          </a:p>
        </p:txBody>
      </p:sp>
      <p:sp>
        <p:nvSpPr>
          <p:cNvPr id="9" name="step box"/>
          <p:cNvSpPr/>
          <p:nvPr/>
        </p:nvSpPr>
        <p:spPr>
          <a:xfrm>
            <a:off x="1828800" y="1554480"/>
            <a:ext cx="1188720" cy="1188720"/>
          </a:xfrm>
          <a:prstGeom prst="roundRect">
            <a:avLst>
              <a:gd name="adj" fmla="val 769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1828800" y="162763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1828800" y="2103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Label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874520" y="28803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Inside eruption interval? 1 / 0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3017520" y="19202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&gt;</a:t>
            </a:r>
            <a:endParaRPr lang="en-US" sz="1600" dirty="0"/>
          </a:p>
        </p:txBody>
      </p:sp>
      <p:sp>
        <p:nvSpPr>
          <p:cNvPr id="14" name="step box"/>
          <p:cNvSpPr/>
          <p:nvPr/>
        </p:nvSpPr>
        <p:spPr>
          <a:xfrm>
            <a:off x="3200400" y="1554480"/>
            <a:ext cx="1188720" cy="1188720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3200400" y="162763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3200400" y="2103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Features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3246120" y="28803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Event + rolling-history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389120" y="19202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&gt;</a:t>
            </a:r>
            <a:endParaRPr lang="en-US" sz="1600" dirty="0"/>
          </a:p>
        </p:txBody>
      </p:sp>
      <p:sp>
        <p:nvSpPr>
          <p:cNvPr id="19" name="step box"/>
          <p:cNvSpPr/>
          <p:nvPr/>
        </p:nvSpPr>
        <p:spPr>
          <a:xfrm>
            <a:off x="4572000" y="1554480"/>
            <a:ext cx="1188720" cy="1188720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4572000" y="162763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0" y="2103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Split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4617720" y="28803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Chronological 70/15/15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760720" y="19202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&gt;</a:t>
            </a:r>
            <a:endParaRPr lang="en-US" sz="1600" dirty="0"/>
          </a:p>
        </p:txBody>
      </p:sp>
      <p:sp>
        <p:nvSpPr>
          <p:cNvPr id="24" name="step box"/>
          <p:cNvSpPr/>
          <p:nvPr/>
        </p:nvSpPr>
        <p:spPr>
          <a:xfrm>
            <a:off x="5943600" y="1554480"/>
            <a:ext cx="1188720" cy="1188720"/>
          </a:xfrm>
          <a:prstGeom prst="roundRect">
            <a:avLst>
              <a:gd name="adj" fmla="val 769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5943600" y="162763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400" dirty="0"/>
          </a:p>
        </p:txBody>
      </p:sp>
      <p:sp>
        <p:nvSpPr>
          <p:cNvPr id="26" name="Text 23"/>
          <p:cNvSpPr txBox="1"/>
          <p:nvPr/>
        </p:nvSpPr>
        <p:spPr>
          <a:xfrm>
            <a:off x="5943600" y="2103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Models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989320" y="28803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Baseline, LR, RF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7132320" y="19202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&gt;</a:t>
            </a:r>
            <a:endParaRPr lang="en-US" sz="1600" dirty="0"/>
          </a:p>
        </p:txBody>
      </p:sp>
      <p:sp>
        <p:nvSpPr>
          <p:cNvPr id="29" name="step box"/>
          <p:cNvSpPr/>
          <p:nvPr/>
        </p:nvSpPr>
        <p:spPr>
          <a:xfrm>
            <a:off x="7315200" y="1554480"/>
            <a:ext cx="1188720" cy="1188720"/>
          </a:xfrm>
          <a:prstGeom prst="roundRect">
            <a:avLst>
              <a:gd name="adj" fmla="val 769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7315200" y="162763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400" dirty="0"/>
          </a:p>
        </p:txBody>
      </p:sp>
      <p:sp>
        <p:nvSpPr>
          <p:cNvPr id="31" name="Text 28"/>
          <p:cNvSpPr txBox="1"/>
          <p:nvPr/>
        </p:nvSpPr>
        <p:spPr>
          <a:xfrm>
            <a:off x="7315200" y="2103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Evaluate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7360920" y="28803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Held-out test metrics</a:t>
            </a:r>
            <a:endParaRPr lang="en-US" sz="1100" dirty="0"/>
          </a:p>
        </p:txBody>
      </p:sp>
      <p:sp>
        <p:nvSpPr>
          <p:cNvPr id="33" name="card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31520" y="3794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Every step uses only information available before the quake being classified - no peeking at the future.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Features: what the model sees</a:t>
            </a:r>
            <a:endParaRPr lang="en-US" sz="2600" dirty="0"/>
          </a:p>
        </p:txBody>
      </p:sp>
      <p:sp>
        <p:nvSpPr>
          <p:cNvPr id="4" name="card"/>
          <p:cNvSpPr/>
          <p:nvPr/>
        </p:nvSpPr>
        <p:spPr>
          <a:xfrm>
            <a:off x="457200" y="1234440"/>
            <a:ext cx="4023360" cy="2286000"/>
          </a:xfrm>
          <a:prstGeom prst="roundRect">
            <a:avLst>
              <a:gd name="adj" fmla="val 3200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card accent"/>
          <p:cNvSpPr/>
          <p:nvPr/>
        </p:nvSpPr>
        <p:spPr>
          <a:xfrm>
            <a:off x="457200" y="1344168"/>
            <a:ext cx="64008" cy="206654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EVENT FEATURES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73736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Latitude and longitude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Depth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Magnitude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Distance from the vent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4663440" y="1234440"/>
            <a:ext cx="4023360" cy="2286000"/>
          </a:xfrm>
          <a:prstGeom prst="roundRect">
            <a:avLst>
              <a:gd name="adj" fmla="val 3200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card accent"/>
          <p:cNvSpPr/>
          <p:nvPr/>
        </p:nvSpPr>
        <p:spPr>
          <a:xfrm>
            <a:off x="4663440" y="1344168"/>
            <a:ext cx="64008" cy="206654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93776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HISTORY FEATURES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937760" y="173736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Earthquake count in previous 1, 7, 30 days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Maximum magnitude in previous 1, 7, 30 days</a:t>
            </a:r>
            <a:endParaRPr lang="en-US" sz="1500" dirty="0"/>
          </a:p>
        </p:txBody>
      </p:sp>
      <p:sp>
        <p:nvSpPr>
          <p:cNvPr id="12" name="card"/>
          <p:cNvSpPr/>
          <p:nvPr/>
        </p:nvSpPr>
        <p:spPr>
          <a:xfrm>
            <a:off x="457200" y="3703320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37033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LEAKAGE GUARD:  the current earthquake is excluded from its own rolling-history features.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Validation: a chronological split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88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Time  &gt;</a:t>
            </a:r>
            <a:endParaRPr lang="en-US" sz="1200" dirty="0"/>
          </a:p>
        </p:txBody>
      </p:sp>
      <p:sp>
        <p:nvSpPr>
          <p:cNvPr id="5" name="split segment"/>
          <p:cNvSpPr/>
          <p:nvPr/>
        </p:nvSpPr>
        <p:spPr>
          <a:xfrm>
            <a:off x="457200" y="1554480"/>
            <a:ext cx="5760720" cy="822960"/>
          </a:xfrm>
          <a:prstGeom prst="rect">
            <a:avLst/>
          </a:prstGeom>
          <a:solidFill>
            <a:schemeClr val="accent4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55448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TRAIN   70%</a:t>
            </a:r>
            <a:endParaRPr lang="en-US" sz="2000" dirty="0"/>
          </a:p>
        </p:txBody>
      </p:sp>
      <p:sp>
        <p:nvSpPr>
          <p:cNvPr id="7" name="split segment"/>
          <p:cNvSpPr/>
          <p:nvPr/>
        </p:nvSpPr>
        <p:spPr>
          <a:xfrm>
            <a:off x="6217920" y="1554480"/>
            <a:ext cx="1234440" cy="82296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17920" y="155448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DEV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217920" y="23774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15%</a:t>
            </a:r>
            <a:endParaRPr lang="en-US" sz="1100" dirty="0"/>
          </a:p>
        </p:txBody>
      </p:sp>
      <p:sp>
        <p:nvSpPr>
          <p:cNvPr id="10" name="split segment"/>
          <p:cNvSpPr/>
          <p:nvPr/>
        </p:nvSpPr>
        <p:spPr>
          <a:xfrm>
            <a:off x="7452360" y="1554480"/>
            <a:ext cx="1234440" cy="822960"/>
          </a:xfrm>
          <a:prstGeom prst="rect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52360" y="155448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TEST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452360" y="23774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15%</a:t>
            </a:r>
            <a:endParaRPr lang="en-US" sz="1100" dirty="0"/>
          </a:p>
        </p:txBody>
      </p:sp>
      <p:sp>
        <p:nvSpPr>
          <p:cNvPr id="13" name="card"/>
          <p:cNvSpPr/>
          <p:nvPr/>
        </p:nvSpPr>
        <p:spPr>
          <a:xfrm>
            <a:off x="457200" y="2926080"/>
            <a:ext cx="256032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card accent"/>
          <p:cNvSpPr/>
          <p:nvPr/>
        </p:nvSpPr>
        <p:spPr>
          <a:xfrm>
            <a:off x="457200" y="3035808"/>
            <a:ext cx="64008" cy="69494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3017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Train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3337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Model learns patterns here</a:t>
            </a:r>
            <a:endParaRPr lang="en-US" sz="1200" dirty="0"/>
          </a:p>
        </p:txBody>
      </p:sp>
      <p:sp>
        <p:nvSpPr>
          <p:cNvPr id="17" name="card"/>
          <p:cNvSpPr/>
          <p:nvPr/>
        </p:nvSpPr>
        <p:spPr>
          <a:xfrm>
            <a:off x="3291840" y="2926080"/>
            <a:ext cx="256032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card accent"/>
          <p:cNvSpPr/>
          <p:nvPr/>
        </p:nvSpPr>
        <p:spPr>
          <a:xfrm>
            <a:off x="3291840" y="3035808"/>
            <a:ext cx="64008" cy="69494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566160" y="3017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Development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566160" y="3337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Choose the decision threshold here</a:t>
            </a:r>
            <a:endParaRPr lang="en-US" sz="1200" dirty="0"/>
          </a:p>
        </p:txBody>
      </p:sp>
      <p:sp>
        <p:nvSpPr>
          <p:cNvPr id="21" name="card"/>
          <p:cNvSpPr/>
          <p:nvPr/>
        </p:nvSpPr>
        <p:spPr>
          <a:xfrm>
            <a:off x="6126480" y="2926080"/>
            <a:ext cx="256032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card accent"/>
          <p:cNvSpPr/>
          <p:nvPr/>
        </p:nvSpPr>
        <p:spPr>
          <a:xfrm>
            <a:off x="6126480" y="3035808"/>
            <a:ext cx="64008" cy="694944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00800" y="3017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Held-out test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400800" y="3337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Used once, for final results only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Why not random? Nearby-in-time quakes look alike, so a random split would leak and inflate scores.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Models we compared</a:t>
            </a:r>
            <a:endParaRPr lang="en-US" sz="26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2560320" cy="301752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model bar"/>
          <p:cNvSpPr/>
          <p:nvPr/>
        </p:nvSpPr>
        <p:spPr>
          <a:xfrm>
            <a:off x="457200" y="1280160"/>
            <a:ext cx="2560320" cy="7315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554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Majority baseline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1945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Always predicts the most common class.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1089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The bar to beat. Any useful model must do better than this.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3291840" y="1280160"/>
            <a:ext cx="2560320" cy="301752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model bar"/>
          <p:cNvSpPr/>
          <p:nvPr/>
        </p:nvSpPr>
        <p:spPr>
          <a:xfrm>
            <a:off x="3291840" y="1280160"/>
            <a:ext cx="2560320" cy="73152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20440" y="1554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Logistic Regression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3520440" y="21945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Linear model producing eruption probabilities.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520440" y="31089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Simple and interpretable; a strong ranker of eruptive events.</a:t>
            </a:r>
            <a:endParaRPr lang="en-US" sz="1300" dirty="0"/>
          </a:p>
        </p:txBody>
      </p:sp>
      <p:sp>
        <p:nvSpPr>
          <p:cNvPr id="14" name="card"/>
          <p:cNvSpPr/>
          <p:nvPr/>
        </p:nvSpPr>
        <p:spPr>
          <a:xfrm>
            <a:off x="6126480" y="1280160"/>
            <a:ext cx="2560320" cy="301752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model bar"/>
          <p:cNvSpPr/>
          <p:nvPr/>
        </p:nvSpPr>
        <p:spPr>
          <a:xfrm>
            <a:off x="6126480" y="1280160"/>
            <a:ext cx="2560320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55080" y="1554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6355080" y="21945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Ensemble of decision trees.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355080" y="31089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Captures non-linear patterns; threshold tuned to 0.75 on the development set.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Held-out test results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45720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640080"/>
                <a:gridCol w="640080"/>
                <a:gridCol w="731520"/>
                <a:gridCol w="10058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Acc.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Kappa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ROC-AUC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Majority baseline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0.550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0.710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0.000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0.500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Logistic Regression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0.475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0.086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0.041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0.961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Random Forest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0.636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0.541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0.308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0.822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34290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Random Forest tuned threshold: 0.75 (chosen on development data, not on the test set).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212080" y="1143000"/>
          <a:ext cx="35661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read these numbers</a:t>
            </a:r>
            <a:endParaRPr lang="en-US" sz="26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3017520" cy="3200400"/>
          </a:xfrm>
          <a:prstGeom prst="roundRect">
            <a:avLst>
              <a:gd name="adj" fmla="val 2424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85800" y="1417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LOGISTIC REGRESSION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8288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0.961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606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ROC-AUC: ranks well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1089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0.086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886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F1: poor at the chosen cutoff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3657600" y="1280160"/>
            <a:ext cx="502920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card accent"/>
          <p:cNvSpPr/>
          <p:nvPr/>
        </p:nvSpPr>
        <p:spPr>
          <a:xfrm>
            <a:off x="3657600" y="1389888"/>
            <a:ext cx="64008" cy="74066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93192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Ranking is not classifying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931920" y="166420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AUC ignores the threshold. Accuracy and F1 depend on where the cutoff sits.</a:t>
            </a:r>
            <a:endParaRPr lang="en-US" sz="1200" dirty="0"/>
          </a:p>
        </p:txBody>
      </p:sp>
      <p:sp>
        <p:nvSpPr>
          <p:cNvPr id="14" name="card"/>
          <p:cNvSpPr/>
          <p:nvPr/>
        </p:nvSpPr>
        <p:spPr>
          <a:xfrm>
            <a:off x="3657600" y="2377440"/>
            <a:ext cx="502920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card accent"/>
          <p:cNvSpPr/>
          <p:nvPr/>
        </p:nvSpPr>
        <p:spPr>
          <a:xfrm>
            <a:off x="3657600" y="2487168"/>
            <a:ext cx="64008" cy="74066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931920" y="2468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The test period is different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3931920" y="276148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Test positive rate is 55%, versus 68.9% overall, so a cutoff can drift out of place.</a:t>
            </a:r>
            <a:endParaRPr lang="en-US" sz="1200" dirty="0"/>
          </a:p>
        </p:txBody>
      </p:sp>
      <p:sp>
        <p:nvSpPr>
          <p:cNvPr id="18" name="card"/>
          <p:cNvSpPr/>
          <p:nvPr/>
        </p:nvSpPr>
        <p:spPr>
          <a:xfrm>
            <a:off x="3657600" y="3474720"/>
            <a:ext cx="502920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card accent"/>
          <p:cNvSpPr/>
          <p:nvPr/>
        </p:nvSpPr>
        <p:spPr>
          <a:xfrm>
            <a:off x="3657600" y="3584448"/>
            <a:ext cx="64008" cy="74066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931920" y="3566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Tuning helps the forest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3931920" y="385876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The 0.75 threshold, set on development data, balances Random Forest on held-out data.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Limitations: what this does NOT show</a:t>
            </a:r>
            <a:endParaRPr lang="en-US" sz="26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card accent"/>
          <p:cNvSpPr/>
          <p:nvPr/>
        </p:nvSpPr>
        <p:spPr>
          <a:xfrm>
            <a:off x="457200" y="1389888"/>
            <a:ext cx="64008" cy="1243584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4447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Retrospective only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8745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Classifies status at the time of the quake. It does not forecast days ahead.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4663440" y="128016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card accent"/>
          <p:cNvSpPr/>
          <p:nvPr/>
        </p:nvSpPr>
        <p:spPr>
          <a:xfrm>
            <a:off x="4663440" y="1389888"/>
            <a:ext cx="64008" cy="124358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937760" y="14447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Few independent intervals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937760" y="18745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49 eruption intervals; quakes inside one interval are correlated.</a:t>
            </a:r>
            <a:endParaRPr lang="en-US" sz="1300" dirty="0"/>
          </a:p>
        </p:txBody>
      </p:sp>
      <p:sp>
        <p:nvSpPr>
          <p:cNvPr id="12" name="card"/>
          <p:cNvSpPr/>
          <p:nvPr/>
        </p:nvSpPr>
        <p:spPr>
          <a:xfrm>
            <a:off x="457200" y="292608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card accent"/>
          <p:cNvSpPr/>
          <p:nvPr/>
        </p:nvSpPr>
        <p:spPr>
          <a:xfrm>
            <a:off x="457200" y="3035808"/>
            <a:ext cx="64008" cy="124358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0906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Threshold sensitive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35204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F1 and accuracy shift a lot with the decision cutoff.</a:t>
            </a:r>
            <a:endParaRPr lang="en-US" sz="1300" dirty="0"/>
          </a:p>
        </p:txBody>
      </p:sp>
      <p:sp>
        <p:nvSpPr>
          <p:cNvPr id="16" name="card"/>
          <p:cNvSpPr/>
          <p:nvPr/>
        </p:nvSpPr>
        <p:spPr>
          <a:xfrm>
            <a:off x="4663440" y="292608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card accent"/>
          <p:cNvSpPr/>
          <p:nvPr/>
        </p:nvSpPr>
        <p:spPr>
          <a:xfrm>
            <a:off x="4663440" y="3035808"/>
            <a:ext cx="64008" cy="124358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937760" y="30906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volcano, one era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4937760" y="35204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Kilauea, 1983-1986. Not tested elsewhere.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CONCLUSION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8229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Earthquake catalogs carry real signal about eruptive status - but this is not a forecast.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240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NEXT STEPS</a:t>
            </a:r>
            <a:endParaRPr lang="en-US" sz="1200" dirty="0"/>
          </a:p>
        </p:txBody>
      </p:sp>
      <p:sp>
        <p:nvSpPr>
          <p:cNvPr id="6" name="card"/>
          <p:cNvSpPr/>
          <p:nvPr/>
        </p:nvSpPr>
        <p:spPr>
          <a:xfrm>
            <a:off x="640080" y="2606040"/>
            <a:ext cx="2514600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697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004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Calibrate thresholds on a development period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3337560" y="2606040"/>
            <a:ext cx="2514600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520440" y="2697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520440" y="32004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Use blocked / event-based validation</a:t>
            </a:r>
            <a:endParaRPr lang="en-US" sz="1300" dirty="0"/>
          </a:p>
        </p:txBody>
      </p:sp>
      <p:sp>
        <p:nvSpPr>
          <p:cNvPr id="12" name="card"/>
          <p:cNvSpPr/>
          <p:nvPr/>
        </p:nvSpPr>
        <p:spPr>
          <a:xfrm>
            <a:off x="6035040" y="2606040"/>
            <a:ext cx="2514600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17920" y="2697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217920" y="32004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Add waveform, tremor, GPS and gas-emission features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4297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github.com/mokshithr530/volcano-eruption-ml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669280" y="4297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Thank you  -  questions?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gma">
  <a:themeElements>
    <a:clrScheme name="Magma">
      <a:dk1>
        <a:srgbClr val="0F1B2D"/>
      </a:dk1>
      <a:lt1>
        <a:srgbClr val="FFFFFF"/>
      </a:lt1>
      <a:dk2>
        <a:srgbClr val="22344F"/>
      </a:dk2>
      <a:lt2>
        <a:srgbClr val="F6F2EC"/>
      </a:lt2>
      <a:accent1>
        <a:srgbClr val="E8590C"/>
      </a:accent1>
      <a:accent2>
        <a:srgbClr val="F59F00"/>
      </a:accent2>
      <a:accent3>
        <a:srgbClr val="C92A2A"/>
      </a:accent3>
      <a:accent4>
        <a:srgbClr val="2B8A9E"/>
      </a:accent4>
      <a:accent5>
        <a:srgbClr val="5C677D"/>
      </a:accent5>
      <a:accent6>
        <a:srgbClr val="7FB069"/>
      </a:accent6>
      <a:hlink>
        <a:srgbClr val="E8590C"/>
      </a:hlink>
      <a:folHlink>
        <a:srgbClr val="5C677D"/>
      </a:folHlink>
    </a:clrScheme>
    <a:fontScheme name="Magma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Eruptive Events from Earthquake Data</dc:title>
  <dc:subject>PptxGenJS Presentation</dc:subject>
  <dc:creator>Muhammad Uzair, Mokshithreddy Nallaballe</dc:creator>
  <cp:lastModifiedBy>Muhammad Uzair, Mokshithreddy Nallaballe</cp:lastModifiedBy>
  <cp:revision>1</cp:revision>
  <dcterms:created xsi:type="dcterms:W3CDTF">2026-10-08T13:59:39Z</dcterms:created>
  <dcterms:modified xsi:type="dcterms:W3CDTF">2026-10-08T13:59:39Z</dcterms:modified>
</cp:coreProperties>
</file>