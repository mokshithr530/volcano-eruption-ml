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Aptos"/>
              </a:rPr>
              <a:t>Predicting Eruptive Events</a:t>
            </a:r>
            <a:br/>
            <a:r>
              <a:rPr sz="3800" b="1">
                <a:solidFill>
                  <a:srgbClr val="FFFFFF"/>
                </a:solidFill>
                <a:latin typeface="Aptos"/>
              </a:rPr>
              <a:t>from Earthquake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546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>
                <a:solidFill>
                  <a:srgbClr val="E2E9EF"/>
                </a:solidFill>
                <a:latin typeface="Aptos"/>
              </a:rPr>
              <a:t>UE24CS352A Machine Learning Mini-Project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03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F8AE5F"/>
                </a:solidFill>
                <a:latin typeface="Aptos"/>
              </a:rPr>
              <a:t>Kilauea Pu'u 'O'o eruption-status classification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7324D"/>
                </a:solidFill>
                <a:latin typeface="Aptos"/>
              </a:rPr>
              <a:t>Can earthquake-catalog features identify whether Kilauea was erupting when an earthquake occurred?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2926080"/>
            <a:ext cx="9326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5A6874"/>
                </a:solidFill>
                <a:latin typeface="Aptos"/>
              </a:rPr>
              <a:t>Target: contemporaneous eruption status</a:t>
            </a:r>
            <a:br/>
            <a:r>
              <a:rPr sz="2200" b="0">
                <a:solidFill>
                  <a:srgbClr val="5A6874"/>
                </a:solidFill>
                <a:latin typeface="Aptos"/>
              </a:rPr>
              <a:t>Scope: retrospective educational model</a:t>
            </a:r>
            <a:br/>
            <a:r>
              <a:rPr sz="2200" b="0">
                <a:solidFill>
                  <a:srgbClr val="5A6874"/>
                </a:solidFill>
                <a:latin typeface="Aptos"/>
              </a:rPr>
              <a:t>Interpretation: signal detection, not operational warning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Data and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DD6C27"/>
                </a:solidFill>
                <a:latin typeface="Aptos"/>
              </a:rPr>
              <a:t>6,485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6874"/>
                </a:solidFill>
                <a:latin typeface="Aptos"/>
              </a:rPr>
              <a:t>earthquake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280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DD6C27"/>
                </a:solidFill>
                <a:latin typeface="Aptos"/>
              </a:rPr>
              <a:t>1983–1986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6874"/>
                </a:solidFill>
                <a:latin typeface="Aptos"/>
              </a:rPr>
              <a:t>catalog period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DD6C27"/>
                </a:solidFill>
                <a:latin typeface="Aptos"/>
              </a:rPr>
              <a:t>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6874"/>
                </a:solidFill>
                <a:latin typeface="Aptos"/>
              </a:rPr>
              <a:t>eruption intervals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7324D"/>
                </a:solidFill>
                <a:latin typeface="Aptos"/>
              </a:rPr>
              <a:t>Label 1: event falls inside a documented eruption interval</a:t>
            </a:r>
            <a:br/>
            <a:r>
              <a:rPr sz="2200" b="0">
                <a:solidFill>
                  <a:srgbClr val="17324D"/>
                </a:solidFill>
                <a:latin typeface="Aptos"/>
              </a:rPr>
              <a:t>Label 0: event occurs during repose</a:t>
            </a:r>
            <a:br/>
            <a:r>
              <a:rPr sz="2200" b="0">
                <a:solidFill>
                  <a:srgbClr val="17324D"/>
                </a:solidFill>
                <a:latin typeface="Aptos"/>
              </a:rPr>
              <a:t>Positive rate in engineered data: 68.9%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Features and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D6C27"/>
                </a:solidFill>
                <a:latin typeface="Aptos"/>
              </a:rPr>
              <a:t>Event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>
                <a:solidFill>
                  <a:srgbClr val="17324D"/>
                </a:solidFill>
                <a:latin typeface="Aptos"/>
              </a:rPr>
              <a:t>Latitude, longitude, depth</a:t>
            </a:r>
            <a:br/>
            <a:r>
              <a:rPr sz="2100" b="0">
                <a:solidFill>
                  <a:srgbClr val="17324D"/>
                </a:solidFill>
                <a:latin typeface="Aptos"/>
              </a:rPr>
              <a:t>Magnitude and distance from 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1143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D6C27"/>
                </a:solidFill>
                <a:latin typeface="Aptos"/>
              </a:rPr>
              <a:t>History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60020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>
                <a:solidFill>
                  <a:srgbClr val="17324D"/>
                </a:solidFill>
                <a:latin typeface="Aptos"/>
              </a:rPr>
              <a:t>Counts and maximum magnitude</a:t>
            </a:r>
            <a:br/>
            <a:r>
              <a:rPr sz="2100" b="0">
                <a:solidFill>
                  <a:srgbClr val="17324D"/>
                </a:solidFill>
                <a:latin typeface="Aptos"/>
              </a:rPr>
              <a:t>in previous 1, 7, and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143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D6C27"/>
                </a:solidFill>
                <a:latin typeface="Aptos"/>
              </a:rPr>
              <a:t>Chronological 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6002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>
                <a:solidFill>
                  <a:srgbClr val="17324D"/>
                </a:solidFill>
                <a:latin typeface="Aptos"/>
              </a:rPr>
              <a:t>70% train</a:t>
            </a:r>
            <a:br/>
            <a:r>
              <a:rPr sz="2100" b="0">
                <a:solidFill>
                  <a:srgbClr val="17324D"/>
                </a:solidFill>
                <a:latin typeface="Aptos"/>
              </a:rPr>
              <a:t>15% development</a:t>
            </a:r>
            <a:br/>
            <a:r>
              <a:rPr sz="2100" b="0">
                <a:solidFill>
                  <a:srgbClr val="17324D"/>
                </a:solidFill>
                <a:latin typeface="Aptos"/>
              </a:rPr>
              <a:t>15% held-out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148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5A6874"/>
                </a:solidFill>
                <a:latin typeface="Aptos"/>
              </a:rPr>
              <a:t>The current earthquake is excluded from rolling-history features to prevent direct leakage.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Models and held-out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822960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097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59" y="1097280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09728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Kappa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097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ROC-AUC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7324D"/>
                </a:solidFill>
                <a:latin typeface="Aptos"/>
              </a:rPr>
              <a:t>Majority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5544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0.550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59" y="155448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0.710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15544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5544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7324D"/>
                </a:solidFill>
                <a:latin typeface="Aptos"/>
              </a:rPr>
              <a:t>Logistic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1488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0.475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14884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0.086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214884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0.041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1488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7432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7324D"/>
                </a:solidFill>
                <a:latin typeface="Aptos"/>
              </a:rPr>
              <a:t>Random 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27432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0.636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274320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0.541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7432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0.308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7432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0.822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977639"/>
            <a:ext cx="10515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5A6874"/>
                </a:solidFill>
                <a:latin typeface="Aptos"/>
              </a:rPr>
              <a:t>Random Forest: ROC-AUC 0.822, tuned threshold 0.75, kappa 0.308</a:t>
            </a:r>
            <a:br/>
            <a:r>
              <a:rPr sz="2200" b="0">
                <a:solidFill>
                  <a:srgbClr val="5A6874"/>
                </a:solidFill>
                <a:latin typeface="Aptos"/>
              </a:rPr>
              <a:t>Logistic Regression: ROC-AUC 0.961</a:t>
            </a:r>
            <a:br/>
            <a:r>
              <a:rPr sz="2200" b="0">
                <a:solidFill>
                  <a:srgbClr val="5A6874"/>
                </a:solidFill>
                <a:latin typeface="Aptos"/>
              </a:rPr>
              <a:t>Thresholds were selected on development data before the held-out test.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What the model tells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7324D"/>
                </a:solidFill>
                <a:latin typeface="Aptos"/>
              </a:rPr>
              <a:t>Earthquake features carry predictive signal in the catalog.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2402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0">
                <a:solidFill>
                  <a:srgbClr val="5A6874"/>
                </a:solidFill>
                <a:latin typeface="Aptos"/>
              </a:rPr>
              <a:t>The Logistic Regression model ranks held-out eruptive events well by ROC-AUC.</a:t>
            </a:r>
            <a:br/>
            <a:r>
              <a:rPr sz="2300" b="0">
                <a:solidFill>
                  <a:srgbClr val="5A6874"/>
                </a:solidFill>
                <a:latin typeface="Aptos"/>
              </a:rPr>
              <a:t>Development-set threshold tuning makes the Random Forest more balanced on the held-out period.</a:t>
            </a:r>
            <a:br/>
            <a:r>
              <a:rPr sz="2300" b="0">
                <a:solidFill>
                  <a:srgbClr val="5A6874"/>
                </a:solidFill>
                <a:latin typeface="Aptos"/>
              </a:rPr>
              <a:t>The experiment remains retrospective and should not be treated as an operational alert 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Conclusion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DD6C27"/>
                </a:solidFill>
                <a:latin typeface="Aptos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7324D"/>
                </a:solidFill>
                <a:latin typeface="Aptos"/>
              </a:rPr>
              <a:t>The catalog contains useful information about contemporaneous eruptive status, but this experiment does not forecast an eruption days in advance.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DD6C27"/>
                </a:solidFill>
                <a:latin typeface="Aptos"/>
              </a:rP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>
                <a:solidFill>
                  <a:srgbClr val="5A6874"/>
                </a:solidFill>
                <a:latin typeface="Aptos"/>
              </a:rPr>
              <a:t>Calibrate thresholds on a development period</a:t>
            </a:r>
            <a:br/>
            <a:r>
              <a:rPr sz="2300" b="0">
                <a:solidFill>
                  <a:srgbClr val="5A6874"/>
                </a:solidFill>
                <a:latin typeface="Aptos"/>
              </a:rPr>
              <a:t>Use blocked/event-based validation</a:t>
            </a:r>
            <a:br/>
            <a:r>
              <a:rPr sz="2300" b="0">
                <a:solidFill>
                  <a:srgbClr val="5A6874"/>
                </a:solidFill>
                <a:latin typeface="Aptos"/>
              </a:rPr>
              <a:t>Add waveform, tremor, GPS, and gas-emission features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